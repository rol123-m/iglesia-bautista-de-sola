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57" r:id="rId3"/>
    <p:sldId id="259" r:id="rId4"/>
    <p:sldId id="265" r:id="rId5"/>
    <p:sldId id="266" r:id="rId6"/>
    <p:sldId id="267" r:id="rId7"/>
    <p:sldId id="274" r:id="rId8"/>
    <p:sldId id="275" r:id="rId9"/>
    <p:sldId id="276" r:id="rId10"/>
    <p:sldId id="277" r:id="rId11"/>
    <p:sldId id="287" r:id="rId12"/>
    <p:sldId id="278" r:id="rId13"/>
    <p:sldId id="279" r:id="rId14"/>
    <p:sldId id="288" r:id="rId15"/>
    <p:sldId id="289" r:id="rId16"/>
    <p:sldId id="280" r:id="rId17"/>
    <p:sldId id="281" r:id="rId18"/>
    <p:sldId id="290" r:id="rId19"/>
    <p:sldId id="291" r:id="rId20"/>
    <p:sldId id="282" r:id="rId21"/>
    <p:sldId id="26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44B79E-EE92-4F35-97AC-21C0A2EBF3F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AECE2-5023-4691-B364-48418BEEC81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355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smtClean="0"/>
              <a:t>Visión de la iglesia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AECE2-5023-4691-B364-48418BEEC81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072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8140A-9425-4005-9A49-6C989606DA1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EC36DA2-9E46-462A-9411-0D7E911018E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896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8140A-9425-4005-9A49-6C989606DA1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6DA2-9E46-462A-9411-0D7E911018E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484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8140A-9425-4005-9A49-6C989606DA1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EC36DA2-9E46-462A-9411-0D7E911018E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159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8140A-9425-4005-9A49-6C989606DA1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EC36DA2-9E46-462A-9411-0D7E911018E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647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8140A-9425-4005-9A49-6C989606DA1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EC36DA2-9E46-462A-9411-0D7E911018E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66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8140A-9425-4005-9A49-6C989606DA1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6DA2-9E46-462A-9411-0D7E911018E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713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8140A-9425-4005-9A49-6C989606DA1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6DA2-9E46-462A-9411-0D7E911018E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010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8140A-9425-4005-9A49-6C989606DA1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6DA2-9E46-462A-9411-0D7E911018E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378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8140A-9425-4005-9A49-6C989606DA1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EC36DA2-9E46-462A-9411-0D7E911018E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415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8140A-9425-4005-9A49-6C989606DA1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EC36DA2-9E46-462A-9411-0D7E911018E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354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8140A-9425-4005-9A49-6C989606DA1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EC36DA2-9E46-462A-9411-0D7E911018ED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02792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8140A-9425-4005-9A49-6C989606DA1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EC36DA2-9E46-462A-9411-0D7E911018E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1316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8140A-9425-4005-9A49-6C989606DA1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EC36DA2-9E46-462A-9411-0D7E911018ED}" type="slidenum">
              <a:rPr lang="en-US" smtClean="0"/>
              <a:t>‹Nº›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952262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8140A-9425-4005-9A49-6C989606DA1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EC36DA2-9E46-462A-9411-0D7E911018E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1859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8140A-9425-4005-9A49-6C989606DA1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6DA2-9E46-462A-9411-0D7E911018E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8406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8140A-9425-4005-9A49-6C989606DA1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6DA2-9E46-462A-9411-0D7E911018E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742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8140A-9425-4005-9A49-6C989606DA1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EC36DA2-9E46-462A-9411-0D7E911018E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426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603316" y="0"/>
            <a:ext cx="10077254" cy="112646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96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Discípulos </a:t>
            </a:r>
          </a:p>
          <a:p>
            <a:pPr algn="ctr">
              <a:lnSpc>
                <a:spcPct val="150000"/>
              </a:lnSpc>
            </a:pPr>
            <a:r>
              <a:rPr lang="es-ES" sz="96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que hacen </a:t>
            </a:r>
          </a:p>
          <a:p>
            <a:pPr algn="ctr">
              <a:lnSpc>
                <a:spcPct val="150000"/>
              </a:lnSpc>
            </a:pPr>
            <a:r>
              <a:rPr lang="es-ES" sz="96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discípulos.</a:t>
            </a:r>
          </a:p>
          <a:p>
            <a:pPr algn="ctr"/>
            <a:endParaRPr lang="es-ES" sz="5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 algn="ctr"/>
            <a:endParaRPr lang="es-ES" sz="4800" b="1" dirty="0" smtClean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 algn="ctr"/>
            <a:endParaRPr lang="es-ES" sz="48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 algn="ctr"/>
            <a:endParaRPr lang="es-ES" sz="4800" b="1" dirty="0" smtClean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 algn="ctr"/>
            <a:endParaRPr lang="es-ES" sz="48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 algn="ctr"/>
            <a:r>
              <a:rPr lang="es-ES" sz="48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endParaRPr lang="es-ES" sz="4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27135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780713" y="1902106"/>
            <a:ext cx="10272364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s-ES" sz="11500" b="1" dirty="0" smtClean="0">
                <a:ln/>
                <a:solidFill>
                  <a:schemeClr val="accent3"/>
                </a:solidFill>
              </a:rPr>
              <a:t>¿Discipulado?</a:t>
            </a:r>
            <a:endParaRPr lang="es-ES" sz="11500" b="1" cap="none" spc="0" dirty="0">
              <a:ln/>
              <a:solidFill>
                <a:schemeClr val="accent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74868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2806927" y="884010"/>
            <a:ext cx="5428089" cy="48640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72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Las fases </a:t>
            </a:r>
          </a:p>
          <a:p>
            <a:pPr algn="ctr">
              <a:lnSpc>
                <a:spcPct val="150000"/>
              </a:lnSpc>
            </a:pPr>
            <a:r>
              <a:rPr lang="es-ES" sz="72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del </a:t>
            </a:r>
          </a:p>
          <a:p>
            <a:pPr algn="ctr">
              <a:lnSpc>
                <a:spcPct val="150000"/>
              </a:lnSpc>
            </a:pPr>
            <a:r>
              <a:rPr lang="es-ES" sz="72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discipulado</a:t>
            </a:r>
            <a:endParaRPr lang="es-ES" sz="7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16407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517236" y="1122393"/>
            <a:ext cx="10603345" cy="55177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s-ES" sz="4800" b="1" dirty="0" smtClean="0">
                <a:effectLst/>
                <a:latin typeface="Calibri" panose="020F0502020204030204" pitchFamily="34" charset="0"/>
              </a:rPr>
              <a:t>“</a:t>
            </a:r>
            <a:r>
              <a:rPr lang="es-ES" sz="4800" b="1" i="1" dirty="0" smtClean="0">
                <a:effectLst/>
                <a:latin typeface="Calibri" panose="020F0502020204030204" pitchFamily="34" charset="0"/>
              </a:rPr>
              <a:t>Cada uno ponga al servicio de los demás el don que haya recibido, administrando fielmente la gracia de Dios en sus diversas formas.</a:t>
            </a:r>
            <a:r>
              <a:rPr lang="es-ES" sz="4800" b="1" dirty="0" smtClean="0">
                <a:effectLst/>
                <a:latin typeface="Calibri" panose="020F0502020204030204" pitchFamily="34" charset="0"/>
              </a:rPr>
              <a:t>” (1 Peter 4:10, NVI) </a:t>
            </a:r>
            <a:endParaRPr lang="es-ES" sz="4800" b="1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563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27" y="0"/>
            <a:ext cx="120072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155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591127" y="1034754"/>
            <a:ext cx="11139055" cy="55369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s-ES" sz="4000" dirty="0" smtClean="0">
                <a:effectLst/>
                <a:latin typeface="Calibri" panose="020F0502020204030204" pitchFamily="34" charset="0"/>
              </a:rPr>
              <a:t>“</a:t>
            </a:r>
            <a:r>
              <a:rPr lang="es-ES" sz="4000" i="1" dirty="0" smtClean="0">
                <a:effectLst/>
                <a:latin typeface="Calibri" panose="020F0502020204030204" pitchFamily="34" charset="0"/>
              </a:rPr>
              <a:t>Por tanto, vayan y hagan discípulos de todas las naciones, bautizándolos en el nombre del Padre y del Hijo y del Espíritu Santo, enseñándoles a obedecer todo lo que les he mandado a ustedes. Y les aseguro que estaré con ustedes siempre, hasta el fin del mundo.</a:t>
            </a:r>
            <a:r>
              <a:rPr lang="es-ES" sz="4000" dirty="0" smtClean="0">
                <a:effectLst/>
                <a:latin typeface="Calibri" panose="020F0502020204030204" pitchFamily="34" charset="0"/>
              </a:rPr>
              <a:t>” (Matthew 28:19–20, NVI) </a:t>
            </a:r>
            <a:endParaRPr lang="es-ES" sz="4000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906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434109" y="1221618"/>
            <a:ext cx="10621818" cy="44736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6600" dirty="0" smtClea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No existe ningún creyente en esta tierra que no esté llamado a discipular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3634145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664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720564" y="1677236"/>
            <a:ext cx="9892018" cy="36317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1500" b="1" dirty="0" smtClea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Tipos de D</a:t>
            </a:r>
            <a:r>
              <a:rPr lang="es-ES" sz="9600" b="1" dirty="0" smtClea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iscipulado 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1022048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10" y="0"/>
            <a:ext cx="118317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954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369454" y="1572717"/>
            <a:ext cx="11222182" cy="51392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ES" sz="4800" dirty="0" smtClean="0">
                <a:effectLst/>
                <a:latin typeface="Calibri" panose="020F0502020204030204" pitchFamily="34" charset="0"/>
              </a:rPr>
              <a:t>“</a:t>
            </a:r>
            <a:r>
              <a:rPr lang="es-ES" sz="4800" i="1" dirty="0" smtClean="0">
                <a:effectLst/>
                <a:latin typeface="Calibri" panose="020F0502020204030204" pitchFamily="34" charset="0"/>
              </a:rPr>
              <a:t>Toda la Escritura es inspirada por Dios y útil para enseñar, para reprender, para corregir y para instruir en la justicia, a fin de que el siervo de Dios esté enteramente capacitado para toda buena obra.</a:t>
            </a:r>
            <a:r>
              <a:rPr lang="es-ES" sz="4800" dirty="0" smtClean="0">
                <a:effectLst/>
                <a:latin typeface="Calibri" panose="020F0502020204030204" pitchFamily="34" charset="0"/>
              </a:rPr>
              <a:t>” (2 Timothy 3:16–17, NVI) </a:t>
            </a:r>
            <a:endParaRPr lang="es-ES" sz="4800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0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2436"/>
            <a:ext cx="11693235" cy="664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120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55" y="110835"/>
            <a:ext cx="11711709" cy="65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666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492431" y="2126825"/>
            <a:ext cx="10708381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72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Discipulado de Apoyo. </a:t>
            </a:r>
            <a:endParaRPr lang="es-ES" sz="7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6827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341745" y="1549522"/>
            <a:ext cx="10501746" cy="4695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ES" sz="6600" dirty="0" smtClean="0">
                <a:effectLst/>
                <a:latin typeface="Calibri" panose="020F0502020204030204" pitchFamily="34" charset="0"/>
              </a:rPr>
              <a:t>“</a:t>
            </a:r>
            <a:r>
              <a:rPr lang="es-ES" sz="6600" i="1" dirty="0" smtClean="0">
                <a:effectLst/>
                <a:latin typeface="Calibri" panose="020F0502020204030204" pitchFamily="34" charset="0"/>
              </a:rPr>
              <a:t>Ayúdense unos a otros a llevar sus cargas, y así cumplirán la ley de Cristo.</a:t>
            </a:r>
            <a:r>
              <a:rPr lang="es-ES" sz="6600" dirty="0" smtClean="0">
                <a:effectLst/>
                <a:latin typeface="Calibri" panose="020F0502020204030204" pitchFamily="34" charset="0"/>
              </a:rPr>
              <a:t>” (</a:t>
            </a:r>
            <a:r>
              <a:rPr lang="es-ES" sz="6600" dirty="0" err="1" smtClean="0">
                <a:effectLst/>
                <a:latin typeface="Calibri" panose="020F0502020204030204" pitchFamily="34" charset="0"/>
              </a:rPr>
              <a:t>Galatians</a:t>
            </a:r>
            <a:r>
              <a:rPr lang="es-ES" sz="6600" dirty="0" smtClean="0">
                <a:effectLst/>
                <a:latin typeface="Calibri" panose="020F0502020204030204" pitchFamily="34" charset="0"/>
              </a:rPr>
              <a:t> 6:2, NVI) </a:t>
            </a:r>
            <a:endParaRPr lang="es-ES" sz="6600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2458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641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3890"/>
            <a:ext cx="12108872" cy="678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194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659449" y="2154535"/>
            <a:ext cx="10669909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66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Discipulado espontáneo. </a:t>
            </a:r>
            <a:endParaRPr lang="es-ES" sz="6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65366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434109" y="1614176"/>
            <a:ext cx="10658764" cy="4277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ES" sz="6000" dirty="0" smtClean="0">
                <a:effectLst/>
                <a:latin typeface="Calibri" panose="020F0502020204030204" pitchFamily="34" charset="0"/>
              </a:rPr>
              <a:t>“</a:t>
            </a:r>
            <a:r>
              <a:rPr lang="es-ES" sz="6000" i="1" dirty="0" smtClean="0">
                <a:effectLst/>
                <a:latin typeface="Calibri" panose="020F0502020204030204" pitchFamily="34" charset="0"/>
              </a:rPr>
              <a:t>aprovechando al máximo cada momento oportuno, porque los días son malos.</a:t>
            </a:r>
            <a:r>
              <a:rPr lang="es-ES" sz="6000" dirty="0" smtClean="0">
                <a:effectLst/>
                <a:latin typeface="Calibri" panose="020F0502020204030204" pitchFamily="34" charset="0"/>
              </a:rPr>
              <a:t>” (</a:t>
            </a:r>
            <a:r>
              <a:rPr lang="es-ES" sz="6000" dirty="0" err="1" smtClean="0">
                <a:effectLst/>
                <a:latin typeface="Calibri" panose="020F0502020204030204" pitchFamily="34" charset="0"/>
              </a:rPr>
              <a:t>Ephesians</a:t>
            </a:r>
            <a:r>
              <a:rPr lang="es-ES" sz="6000" dirty="0" smtClean="0">
                <a:effectLst/>
                <a:latin typeface="Calibri" panose="020F0502020204030204" pitchFamily="34" charset="0"/>
              </a:rPr>
              <a:t> 5:16, NVI) </a:t>
            </a:r>
            <a:endParaRPr lang="es-ES" sz="6000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9193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891"/>
            <a:ext cx="12053455" cy="678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482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64" y="64655"/>
            <a:ext cx="11970327" cy="667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268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64</TotalTime>
  <Words>226</Words>
  <Application>Microsoft Office PowerPoint</Application>
  <PresentationFormat>Panorámica</PresentationFormat>
  <Paragraphs>24</Paragraphs>
  <Slides>21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7" baseType="lpstr">
      <vt:lpstr>Arial</vt:lpstr>
      <vt:lpstr>Calibri</vt:lpstr>
      <vt:lpstr>Century Gothic</vt:lpstr>
      <vt:lpstr>Times New Roman</vt:lpstr>
      <vt:lpstr>Wingdings 3</vt:lpstr>
      <vt:lpstr>Espiral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Cuenta Microsoft</dc:creator>
  <cp:lastModifiedBy>Cuenta Microsoft</cp:lastModifiedBy>
  <cp:revision>38</cp:revision>
  <dcterms:created xsi:type="dcterms:W3CDTF">2025-02-01T21:04:53Z</dcterms:created>
  <dcterms:modified xsi:type="dcterms:W3CDTF">2026-01-28T09:39:10Z</dcterms:modified>
</cp:coreProperties>
</file>